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odec Pro Bold" charset="1" panose="00000600000000000000"/>
      <p:regular r:id="rId14"/>
    </p:embeddedFont>
    <p:embeddedFont>
      <p:font typeface="Open Sans" charset="1" panose="020B0606030504020204"/>
      <p:regular r:id="rId15"/>
    </p:embeddedFont>
    <p:embeddedFont>
      <p:font typeface="Codec Pro Ultra-Bold" charset="1" panose="00000700000000000000"/>
      <p:regular r:id="rId16"/>
    </p:embeddedFont>
    <p:embeddedFont>
      <p:font typeface="Codec Pro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5C69F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3384" y="-1675084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1"/>
                </a:lnTo>
                <a:lnTo>
                  <a:pt x="0" y="3567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542441" y="8591206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41048" y="537816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4180105" y="6181594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904533" y="-494599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275713" y="462563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3"/>
                </a:lnTo>
                <a:lnTo>
                  <a:pt x="0" y="30214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4960748" y="776013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6481741" y="265415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517383" y="3732783"/>
            <a:ext cx="9253234" cy="2940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34"/>
              </a:lnSpc>
            </a:pPr>
            <a:r>
              <a:rPr lang="en-US" sz="11206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Proyecto de QA Testing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531401" y="7032332"/>
            <a:ext cx="7225199" cy="700433"/>
            <a:chOff x="0" y="0"/>
            <a:chExt cx="1356880" cy="1315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56880" cy="131540"/>
            </a:xfrm>
            <a:custGeom>
              <a:avLst/>
              <a:gdLst/>
              <a:ahLst/>
              <a:cxnLst/>
              <a:rect r="r" b="b" t="t" l="l"/>
              <a:pathLst>
                <a:path h="131540" w="1356880">
                  <a:moveTo>
                    <a:pt x="65770" y="0"/>
                  </a:moveTo>
                  <a:lnTo>
                    <a:pt x="1291110" y="0"/>
                  </a:lnTo>
                  <a:cubicBezTo>
                    <a:pt x="1327434" y="0"/>
                    <a:pt x="1356880" y="29446"/>
                    <a:pt x="1356880" y="65770"/>
                  </a:cubicBezTo>
                  <a:lnTo>
                    <a:pt x="1356880" y="65770"/>
                  </a:lnTo>
                  <a:cubicBezTo>
                    <a:pt x="1356880" y="83213"/>
                    <a:pt x="1349951" y="99942"/>
                    <a:pt x="1337617" y="112276"/>
                  </a:cubicBezTo>
                  <a:cubicBezTo>
                    <a:pt x="1325283" y="124611"/>
                    <a:pt x="1308554" y="131540"/>
                    <a:pt x="1291110" y="131540"/>
                  </a:cubicBezTo>
                  <a:lnTo>
                    <a:pt x="65770" y="131540"/>
                  </a:lnTo>
                  <a:cubicBezTo>
                    <a:pt x="29446" y="131540"/>
                    <a:pt x="0" y="102094"/>
                    <a:pt x="0" y="65770"/>
                  </a:cubicBezTo>
                  <a:lnTo>
                    <a:pt x="0" y="65770"/>
                  </a:lnTo>
                  <a:cubicBezTo>
                    <a:pt x="0" y="29446"/>
                    <a:pt x="29446" y="0"/>
                    <a:pt x="65770" y="0"/>
                  </a:cubicBezTo>
                  <a:close/>
                </a:path>
              </a:pathLst>
            </a:custGeom>
            <a:solidFill>
              <a:srgbClr val="5666F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356880" cy="141065"/>
            </a:xfrm>
            <a:prstGeom prst="rect">
              <a:avLst/>
            </a:prstGeom>
          </p:spPr>
          <p:txBody>
            <a:bodyPr anchor="ctr" rtlCol="false" tIns="31918" lIns="31918" bIns="31918" rIns="31918"/>
            <a:lstStyle/>
            <a:p>
              <a:pPr algn="ctr">
                <a:lnSpc>
                  <a:spcPts val="138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550363" y="7256730"/>
            <a:ext cx="5187273" cy="270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7"/>
              </a:lnSpc>
            </a:pPr>
            <a:r>
              <a:rPr lang="en-US" b="true" sz="1901" spc="53">
                <a:solidFill>
                  <a:srgbClr val="E4E5E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EVALUACIÓN FUNCIONAL DE TIKTOK LITE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40748" y="8614277"/>
            <a:ext cx="4406503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Brenda Ruejas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Proyecto Final - Curso QA Testing - ADA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2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25388" y="1716698"/>
            <a:ext cx="1070406" cy="276506"/>
            <a:chOff x="0" y="0"/>
            <a:chExt cx="484642" cy="125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642" cy="125192"/>
            </a:xfrm>
            <a:custGeom>
              <a:avLst/>
              <a:gdLst/>
              <a:ahLst/>
              <a:cxnLst/>
              <a:rect r="r" b="b" t="t" l="l"/>
              <a:pathLst>
                <a:path h="125192" w="484642">
                  <a:moveTo>
                    <a:pt x="62596" y="0"/>
                  </a:moveTo>
                  <a:lnTo>
                    <a:pt x="422046" y="0"/>
                  </a:lnTo>
                  <a:cubicBezTo>
                    <a:pt x="456617" y="0"/>
                    <a:pt x="484642" y="28025"/>
                    <a:pt x="484642" y="62596"/>
                  </a:cubicBezTo>
                  <a:lnTo>
                    <a:pt x="484642" y="62596"/>
                  </a:lnTo>
                  <a:cubicBezTo>
                    <a:pt x="484642" y="97167"/>
                    <a:pt x="456617" y="125192"/>
                    <a:pt x="422046" y="125192"/>
                  </a:cubicBezTo>
                  <a:lnTo>
                    <a:pt x="62596" y="125192"/>
                  </a:lnTo>
                  <a:cubicBezTo>
                    <a:pt x="28025" y="125192"/>
                    <a:pt x="0" y="97167"/>
                    <a:pt x="0" y="62596"/>
                  </a:cubicBezTo>
                  <a:lnTo>
                    <a:pt x="0" y="62596"/>
                  </a:lnTo>
                  <a:cubicBezTo>
                    <a:pt x="0" y="28025"/>
                    <a:pt x="28025" y="0"/>
                    <a:pt x="62596" y="0"/>
                  </a:cubicBezTo>
                  <a:close/>
                </a:path>
              </a:pathLst>
            </a:custGeom>
            <a:solidFill>
              <a:srgbClr val="15193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4642" cy="134717"/>
            </a:xfrm>
            <a:prstGeom prst="rect">
              <a:avLst/>
            </a:prstGeom>
          </p:spPr>
          <p:txBody>
            <a:bodyPr anchor="ctr" rtlCol="false" tIns="31918" lIns="31918" bIns="31918" rIns="31918"/>
            <a:lstStyle/>
            <a:p>
              <a:pPr algn="ctr">
                <a:lnSpc>
                  <a:spcPts val="138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8431" y="-230885"/>
            <a:ext cx="18644862" cy="8466714"/>
          </a:xfrm>
          <a:custGeom>
            <a:avLst/>
            <a:gdLst/>
            <a:ahLst/>
            <a:cxnLst/>
            <a:rect r="r" b="b" t="t" l="l"/>
            <a:pathLst>
              <a:path h="8466714" w="18644862">
                <a:moveTo>
                  <a:pt x="0" y="0"/>
                </a:moveTo>
                <a:lnTo>
                  <a:pt x="18644862" y="0"/>
                </a:lnTo>
                <a:lnTo>
                  <a:pt x="18644862" y="8466714"/>
                </a:lnTo>
                <a:lnTo>
                  <a:pt x="0" y="8466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213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26875" y="659463"/>
            <a:ext cx="16672349" cy="9066230"/>
            <a:chOff x="0" y="0"/>
            <a:chExt cx="4391071" cy="23878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072" cy="2387814"/>
            </a:xfrm>
            <a:custGeom>
              <a:avLst/>
              <a:gdLst/>
              <a:ahLst/>
              <a:cxnLst/>
              <a:rect r="r" b="b" t="t" l="l"/>
              <a:pathLst>
                <a:path h="2387814" w="4391072">
                  <a:moveTo>
                    <a:pt x="14859" y="0"/>
                  </a:moveTo>
                  <a:lnTo>
                    <a:pt x="4376212" y="0"/>
                  </a:lnTo>
                  <a:cubicBezTo>
                    <a:pt x="4380153" y="0"/>
                    <a:pt x="4383933" y="1566"/>
                    <a:pt x="4386719" y="4352"/>
                  </a:cubicBezTo>
                  <a:cubicBezTo>
                    <a:pt x="4389506" y="7139"/>
                    <a:pt x="4391072" y="10918"/>
                    <a:pt x="4391072" y="14859"/>
                  </a:cubicBezTo>
                  <a:lnTo>
                    <a:pt x="4391072" y="2372954"/>
                  </a:lnTo>
                  <a:cubicBezTo>
                    <a:pt x="4391072" y="2381161"/>
                    <a:pt x="4384419" y="2387814"/>
                    <a:pt x="4376212" y="2387814"/>
                  </a:cubicBezTo>
                  <a:lnTo>
                    <a:pt x="14859" y="2387814"/>
                  </a:lnTo>
                  <a:cubicBezTo>
                    <a:pt x="10918" y="2387814"/>
                    <a:pt x="7139" y="2386248"/>
                    <a:pt x="4352" y="2383461"/>
                  </a:cubicBezTo>
                  <a:cubicBezTo>
                    <a:pt x="1566" y="2380675"/>
                    <a:pt x="0" y="2376895"/>
                    <a:pt x="0" y="2372954"/>
                  </a:cubicBezTo>
                  <a:lnTo>
                    <a:pt x="0" y="14859"/>
                  </a:lnTo>
                  <a:cubicBezTo>
                    <a:pt x="0" y="10918"/>
                    <a:pt x="1566" y="7139"/>
                    <a:pt x="4352" y="4352"/>
                  </a:cubicBezTo>
                  <a:cubicBezTo>
                    <a:pt x="7139" y="1566"/>
                    <a:pt x="10918" y="0"/>
                    <a:pt x="14859" y="0"/>
                  </a:cubicBezTo>
                  <a:close/>
                </a:path>
              </a:pathLst>
            </a:custGeom>
            <a:solidFill>
              <a:srgbClr val="E4E5E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071" cy="2425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203917" y="1783373"/>
            <a:ext cx="5585847" cy="91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sz="6444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OBJETIVO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03917" y="2994403"/>
            <a:ext cx="722176" cy="442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b="true" sz="2884" spc="196">
                <a:solidFill>
                  <a:srgbClr val="5666F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03917" y="5268670"/>
            <a:ext cx="722176" cy="442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b="true" sz="2884" spc="196">
                <a:solidFill>
                  <a:srgbClr val="5666F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03917" y="4257745"/>
            <a:ext cx="722176" cy="442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b="true" sz="2884" spc="196">
                <a:solidFill>
                  <a:srgbClr val="5666F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03917" y="6282885"/>
            <a:ext cx="722176" cy="442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b="true" sz="2884" spc="196">
                <a:solidFill>
                  <a:srgbClr val="5666F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11687" y="2994403"/>
            <a:ext cx="11977466" cy="64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8"/>
              </a:lnSpc>
            </a:pPr>
            <a:r>
              <a:rPr lang="en-US" sz="2280" spc="155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EVALUAR EL FUNCIONAMIENTO DE LA APLICACIÓN DESDE LA EXPERIENCIA DEL USUARIO FINAL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11687" y="5268670"/>
            <a:ext cx="5776012" cy="354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2"/>
              </a:lnSpc>
            </a:pPr>
            <a:r>
              <a:rPr lang="en-US" sz="2284" spc="155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DETECTAR DEFECTOS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11687" y="4257745"/>
            <a:ext cx="11793771" cy="3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8"/>
              </a:lnSpc>
            </a:pPr>
            <a:r>
              <a:rPr lang="en-US" sz="2280" spc="155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VALIDAR LAS FUNCIONALIDADES PRINCIPALES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11687" y="6282885"/>
            <a:ext cx="5776012" cy="354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2"/>
              </a:lnSpc>
            </a:pPr>
            <a:r>
              <a:rPr lang="en-US" sz="2284" spc="155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DOCUMENTAR RESULTADOS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-651470" y="-757964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2"/>
                </a:lnTo>
                <a:lnTo>
                  <a:pt x="0" y="2173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1394806" y="659463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113293" y="8973379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027523" y="7552462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1"/>
                </a:lnTo>
                <a:lnTo>
                  <a:pt x="0" y="2173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089511" y="7320074"/>
            <a:ext cx="9184286" cy="91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sz="6444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TIPOS DE PRUEBAS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03917" y="8457256"/>
            <a:ext cx="5776012" cy="354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185" indent="-246592" lvl="1">
              <a:lnSpc>
                <a:spcPts val="2352"/>
              </a:lnSpc>
              <a:buFont typeface="Arial"/>
              <a:buChar char="•"/>
            </a:pPr>
            <a:r>
              <a:rPr lang="en-US" sz="2284" spc="155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TESTING FUNCIONAL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0624" y="0"/>
            <a:ext cx="7668455" cy="10401374"/>
          </a:xfrm>
          <a:custGeom>
            <a:avLst/>
            <a:gdLst/>
            <a:ahLst/>
            <a:cxnLst/>
            <a:rect r="r" b="b" t="t" l="l"/>
            <a:pathLst>
              <a:path h="10401374" w="7668455">
                <a:moveTo>
                  <a:pt x="0" y="0"/>
                </a:moveTo>
                <a:lnTo>
                  <a:pt x="7668455" y="0"/>
                </a:lnTo>
                <a:lnTo>
                  <a:pt x="7668455" y="10401374"/>
                </a:lnTo>
                <a:lnTo>
                  <a:pt x="0" y="1040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563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214315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877205" y="1747337"/>
            <a:ext cx="6792326" cy="6792326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127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1270">
                  <a:moveTo>
                    <a:pt x="5985510" y="0"/>
                  </a:moveTo>
                  <a:lnTo>
                    <a:pt x="364490" y="0"/>
                  </a:lnTo>
                  <a:cubicBezTo>
                    <a:pt x="162560" y="0"/>
                    <a:pt x="0" y="162560"/>
                    <a:pt x="0" y="364490"/>
                  </a:cubicBezTo>
                  <a:lnTo>
                    <a:pt x="0" y="5986780"/>
                  </a:lnTo>
                  <a:cubicBezTo>
                    <a:pt x="0" y="6187440"/>
                    <a:pt x="162560" y="6350000"/>
                    <a:pt x="364490" y="6350000"/>
                  </a:cubicBezTo>
                  <a:lnTo>
                    <a:pt x="5986780" y="6350000"/>
                  </a:lnTo>
                  <a:cubicBezTo>
                    <a:pt x="6187440" y="6350000"/>
                    <a:pt x="6351270" y="6187440"/>
                    <a:pt x="6351270" y="5985510"/>
                  </a:cubicBezTo>
                  <a:lnTo>
                    <a:pt x="6351270" y="364490"/>
                  </a:lnTo>
                  <a:cubicBezTo>
                    <a:pt x="6350000" y="162560"/>
                    <a:pt x="6187440" y="0"/>
                    <a:pt x="5985510" y="0"/>
                  </a:cubicBezTo>
                  <a:close/>
                </a:path>
              </a:pathLst>
            </a:custGeom>
            <a:blipFill>
              <a:blip r:embed="rId6"/>
              <a:stretch>
                <a:fillRect l="-77742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618469" y="3368626"/>
            <a:ext cx="6702926" cy="9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ALCANCE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8469" y="4457252"/>
            <a:ext cx="7927531" cy="3383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483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Aplicación evaluada: TikTok Lite</a:t>
            </a:r>
          </a:p>
          <a:p>
            <a:pPr algn="l">
              <a:lnSpc>
                <a:spcPts val="2980"/>
              </a:lnSpc>
            </a:pPr>
          </a:p>
          <a:p>
            <a:pPr algn="l">
              <a:lnSpc>
                <a:spcPts val="2980"/>
              </a:lnSpc>
            </a:pPr>
            <a:r>
              <a:rPr lang="en-US" sz="2483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Funciones evaluadas:</a:t>
            </a:r>
          </a:p>
          <a:p>
            <a:pPr algn="l" marL="536223" indent="-268111" lvl="1">
              <a:lnSpc>
                <a:spcPts val="2980"/>
              </a:lnSpc>
              <a:buFont typeface="Arial"/>
              <a:buChar char="•"/>
            </a:pPr>
            <a:r>
              <a:rPr lang="en-US" sz="2483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Registro de usuario</a:t>
            </a:r>
          </a:p>
          <a:p>
            <a:pPr algn="l" marL="536223" indent="-268111" lvl="1">
              <a:lnSpc>
                <a:spcPts val="2980"/>
              </a:lnSpc>
              <a:buFont typeface="Arial"/>
              <a:buChar char="•"/>
            </a:pPr>
            <a:r>
              <a:rPr lang="en-US" sz="2483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Inicio de sesión</a:t>
            </a:r>
          </a:p>
          <a:p>
            <a:pPr algn="l" marL="536223" indent="-268111" lvl="1">
              <a:lnSpc>
                <a:spcPts val="2980"/>
              </a:lnSpc>
              <a:buFont typeface="Arial"/>
              <a:buChar char="•"/>
            </a:pPr>
            <a:r>
              <a:rPr lang="en-US" sz="2483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Navegación</a:t>
            </a:r>
          </a:p>
          <a:p>
            <a:pPr algn="l" marL="536223" indent="-268111" lvl="1">
              <a:lnSpc>
                <a:spcPts val="2980"/>
              </a:lnSpc>
              <a:buFont typeface="Arial"/>
              <a:buChar char="•"/>
            </a:pPr>
            <a:r>
              <a:rPr lang="en-US" sz="2483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Interacción con contenido</a:t>
            </a:r>
          </a:p>
          <a:p>
            <a:pPr algn="l" marL="536223" indent="-268111" lvl="1">
              <a:lnSpc>
                <a:spcPts val="2980"/>
              </a:lnSpc>
              <a:buFont typeface="Arial"/>
              <a:buChar char="•"/>
            </a:pPr>
            <a:r>
              <a:rPr lang="en-US" sz="2483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Validación de reglas de usuario</a:t>
            </a:r>
          </a:p>
          <a:p>
            <a:pPr algn="l" marL="536223" indent="-268111" lvl="1">
              <a:lnSpc>
                <a:spcPts val="2980"/>
              </a:lnSpc>
              <a:buFont typeface="Arial"/>
              <a:buChar char="•"/>
            </a:pPr>
            <a:r>
              <a:rPr lang="en-US" sz="2483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comportamiento de interfaz en segundo plano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5C69F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1935" y="695244"/>
            <a:ext cx="16764130" cy="8896513"/>
          </a:xfrm>
          <a:custGeom>
            <a:avLst/>
            <a:gdLst/>
            <a:ahLst/>
            <a:cxnLst/>
            <a:rect r="r" b="b" t="t" l="l"/>
            <a:pathLst>
              <a:path h="8896513" w="16764130">
                <a:moveTo>
                  <a:pt x="0" y="0"/>
                </a:moveTo>
                <a:lnTo>
                  <a:pt x="16764130" y="0"/>
                </a:lnTo>
                <a:lnTo>
                  <a:pt x="16764130" y="8896512"/>
                </a:lnTo>
                <a:lnTo>
                  <a:pt x="0" y="8896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l="0" t="-12419" r="0" b="-1241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75560" y="1028700"/>
            <a:ext cx="9032792" cy="8229600"/>
            <a:chOff x="0" y="0"/>
            <a:chExt cx="2379007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79007" cy="2167467"/>
            </a:xfrm>
            <a:custGeom>
              <a:avLst/>
              <a:gdLst/>
              <a:ahLst/>
              <a:cxnLst/>
              <a:rect r="r" b="b" t="t" l="l"/>
              <a:pathLst>
                <a:path h="2167467" w="2379007">
                  <a:moveTo>
                    <a:pt x="27427" y="0"/>
                  </a:moveTo>
                  <a:lnTo>
                    <a:pt x="2351580" y="0"/>
                  </a:lnTo>
                  <a:cubicBezTo>
                    <a:pt x="2366728" y="0"/>
                    <a:pt x="2379007" y="12279"/>
                    <a:pt x="2379007" y="27427"/>
                  </a:cubicBezTo>
                  <a:lnTo>
                    <a:pt x="2379007" y="2140040"/>
                  </a:lnTo>
                  <a:cubicBezTo>
                    <a:pt x="2379007" y="2155187"/>
                    <a:pt x="2366728" y="2167467"/>
                    <a:pt x="2351580" y="2167467"/>
                  </a:cubicBezTo>
                  <a:lnTo>
                    <a:pt x="27427" y="2167467"/>
                  </a:lnTo>
                  <a:cubicBezTo>
                    <a:pt x="12279" y="2167467"/>
                    <a:pt x="0" y="2155187"/>
                    <a:pt x="0" y="2140040"/>
                  </a:cubicBezTo>
                  <a:lnTo>
                    <a:pt x="0" y="27427"/>
                  </a:lnTo>
                  <a:cubicBezTo>
                    <a:pt x="0" y="12279"/>
                    <a:pt x="12279" y="0"/>
                    <a:pt x="27427" y="0"/>
                  </a:cubicBezTo>
                  <a:close/>
                </a:path>
              </a:pathLst>
            </a:custGeom>
            <a:solidFill>
              <a:srgbClr val="E4E5E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79007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277822" y="3213142"/>
            <a:ext cx="4932944" cy="1678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AMBIENTE DE PRUEBAS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77822" y="5611388"/>
            <a:ext cx="7566868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Dispositivo: Samsung Galaxy A56 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Sistema Operativo: Android 16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Conexión: Wi-Fi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Herramientas utilizadas: Excel, GitHub, evidencias visuales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53028" y="535426"/>
            <a:ext cx="2726935" cy="1621287"/>
          </a:xfrm>
          <a:custGeom>
            <a:avLst/>
            <a:gdLst/>
            <a:ahLst/>
            <a:cxnLst/>
            <a:rect r="r" b="b" t="t" l="l"/>
            <a:pathLst>
              <a:path h="1621287" w="2726935">
                <a:moveTo>
                  <a:pt x="0" y="0"/>
                </a:moveTo>
                <a:lnTo>
                  <a:pt x="2726935" y="0"/>
                </a:lnTo>
                <a:lnTo>
                  <a:pt x="2726935" y="1621287"/>
                </a:lnTo>
                <a:lnTo>
                  <a:pt x="0" y="162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71156" y="1610537"/>
            <a:ext cx="2599390" cy="1545456"/>
          </a:xfrm>
          <a:custGeom>
            <a:avLst/>
            <a:gdLst/>
            <a:ahLst/>
            <a:cxnLst/>
            <a:rect r="r" b="b" t="t" l="l"/>
            <a:pathLst>
              <a:path h="1545456" w="2599390">
                <a:moveTo>
                  <a:pt x="0" y="0"/>
                </a:moveTo>
                <a:lnTo>
                  <a:pt x="2599391" y="0"/>
                </a:lnTo>
                <a:lnTo>
                  <a:pt x="2599391" y="1545455"/>
                </a:lnTo>
                <a:lnTo>
                  <a:pt x="0" y="15454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26102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3" y="0"/>
                </a:moveTo>
                <a:lnTo>
                  <a:pt x="0" y="0"/>
                </a:lnTo>
                <a:lnTo>
                  <a:pt x="0" y="1658599"/>
                </a:lnTo>
                <a:lnTo>
                  <a:pt x="2789693" y="1658599"/>
                </a:lnTo>
                <a:lnTo>
                  <a:pt x="27896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559302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0"/>
                </a:moveTo>
                <a:lnTo>
                  <a:pt x="0" y="0"/>
                </a:lnTo>
                <a:lnTo>
                  <a:pt x="0" y="1658600"/>
                </a:lnTo>
                <a:lnTo>
                  <a:pt x="2789692" y="1658600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772825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0"/>
                </a:moveTo>
                <a:lnTo>
                  <a:pt x="0" y="0"/>
                </a:lnTo>
                <a:lnTo>
                  <a:pt x="0" y="1404701"/>
                </a:lnTo>
                <a:lnTo>
                  <a:pt x="2362646" y="1404701"/>
                </a:lnTo>
                <a:lnTo>
                  <a:pt x="23626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9416472"/>
            <a:ext cx="18288000" cy="870528"/>
          </a:xfrm>
          <a:custGeom>
            <a:avLst/>
            <a:gdLst/>
            <a:ahLst/>
            <a:cxnLst/>
            <a:rect r="r" b="b" t="t" l="l"/>
            <a:pathLst>
              <a:path h="870528" w="18288000">
                <a:moveTo>
                  <a:pt x="0" y="0"/>
                </a:moveTo>
                <a:lnTo>
                  <a:pt x="18288000" y="0"/>
                </a:lnTo>
                <a:lnTo>
                  <a:pt x="18288000" y="870528"/>
                </a:lnTo>
                <a:lnTo>
                  <a:pt x="0" y="870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000794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2165741" y="3829277"/>
          <a:ext cx="13460362" cy="5019675"/>
        </p:xfrm>
        <a:graphic>
          <a:graphicData uri="http://schemas.openxmlformats.org/drawingml/2006/table">
            <a:tbl>
              <a:tblPr/>
              <a:tblGrid>
                <a:gridCol w="6978964"/>
                <a:gridCol w="6481398"/>
              </a:tblGrid>
              <a:tr h="1228525"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b="true" sz="3199">
                          <a:solidFill>
                            <a:srgbClr val="2D2F4D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TOTAL DE CASOS: 37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b="true" sz="3199">
                          <a:solidFill>
                            <a:srgbClr val="2D2F4D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TOTAL DE CASOS: 37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45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b="true" sz="2599">
                          <a:solidFill>
                            <a:srgbClr val="2D2F4D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b="true" sz="2599">
                          <a:solidFill>
                            <a:srgbClr val="2D2F4D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CANTIDAD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21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D2F4D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PASS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2D2F4D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33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21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D2F4D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FAIL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2D2F4D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21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D2F4D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BLOCKED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2D2F4D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639547" y="1437684"/>
            <a:ext cx="8239660" cy="9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CASOS DE PRUEBA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39547" y="2264664"/>
            <a:ext cx="6816548" cy="9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true">
                <a:solidFill>
                  <a:srgbClr val="FFB02C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EJECUTADOS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7668455" cy="10401374"/>
          </a:xfrm>
          <a:custGeom>
            <a:avLst/>
            <a:gdLst/>
            <a:ahLst/>
            <a:cxnLst/>
            <a:rect r="r" b="b" t="t" l="l"/>
            <a:pathLst>
              <a:path h="10401374" w="7668455">
                <a:moveTo>
                  <a:pt x="7668455" y="0"/>
                </a:moveTo>
                <a:lnTo>
                  <a:pt x="0" y="0"/>
                </a:lnTo>
                <a:lnTo>
                  <a:pt x="0" y="10401374"/>
                </a:lnTo>
                <a:lnTo>
                  <a:pt x="7668455" y="10401374"/>
                </a:lnTo>
                <a:lnTo>
                  <a:pt x="76684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5638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82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0"/>
                </a:moveTo>
                <a:lnTo>
                  <a:pt x="0" y="0"/>
                </a:lnTo>
                <a:lnTo>
                  <a:pt x="0" y="1658599"/>
                </a:lnTo>
                <a:lnTo>
                  <a:pt x="2789692" y="1658599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559302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0"/>
                </a:moveTo>
                <a:lnTo>
                  <a:pt x="0" y="0"/>
                </a:lnTo>
                <a:lnTo>
                  <a:pt x="0" y="1658600"/>
                </a:lnTo>
                <a:lnTo>
                  <a:pt x="2789692" y="1658600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772825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0"/>
                </a:moveTo>
                <a:lnTo>
                  <a:pt x="0" y="0"/>
                </a:lnTo>
                <a:lnTo>
                  <a:pt x="0" y="1404701"/>
                </a:lnTo>
                <a:lnTo>
                  <a:pt x="2362646" y="1404701"/>
                </a:lnTo>
                <a:lnTo>
                  <a:pt x="23626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450297" y="2473724"/>
            <a:ext cx="6702926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5000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BUGS CONFIRMADOS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50297" y="6358734"/>
            <a:ext cx="6702926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5000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OBSERVACIÓN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50297" y="3571875"/>
            <a:ext cx="6702926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Mensaje de validación incompleto para el campo Nombre de Usuario.</a:t>
            </a:r>
          </a:p>
          <a:p>
            <a:pPr algn="l" marL="496569" indent="-248284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Problema al volver desde segundo plano.</a:t>
            </a:r>
          </a:p>
          <a:p>
            <a:pPr algn="l" marL="496569" indent="-248284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Falla en la restricción de tiempo para modificar los campos “Nombre de Usuario” y “Nombre de perfil”.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50297" y="7565151"/>
            <a:ext cx="6702926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Posible inconsistencia entre Modo claro y Modo oscuro (no se logró reproducir nuevamente durante las pruebas).</a:t>
            </a:r>
          </a:p>
        </p:txBody>
      </p:sp>
      <p:sp>
        <p:nvSpPr>
          <p:cNvPr name="Freeform 10" id="10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52865" y="3038087"/>
            <a:ext cx="6562725" cy="253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72"/>
              </a:lnSpc>
            </a:pPr>
            <a:r>
              <a:rPr lang="en-US" b="true" sz="6980">
                <a:solidFill>
                  <a:srgbClr val="E4E5E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FALLAS </a:t>
            </a:r>
          </a:p>
          <a:p>
            <a:pPr algn="just">
              <a:lnSpc>
                <a:spcPts val="9772"/>
              </a:lnSpc>
              <a:spcBef>
                <a:spcPct val="0"/>
              </a:spcBef>
            </a:pPr>
            <a:r>
              <a:rPr lang="en-US" b="true" sz="6980">
                <a:solidFill>
                  <a:srgbClr val="E4E5E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ENCONTRADAS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26102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3" y="0"/>
                </a:moveTo>
                <a:lnTo>
                  <a:pt x="0" y="0"/>
                </a:lnTo>
                <a:lnTo>
                  <a:pt x="0" y="1658599"/>
                </a:lnTo>
                <a:lnTo>
                  <a:pt x="2789693" y="1658599"/>
                </a:lnTo>
                <a:lnTo>
                  <a:pt x="27896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559302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0"/>
                </a:moveTo>
                <a:lnTo>
                  <a:pt x="0" y="0"/>
                </a:lnTo>
                <a:lnTo>
                  <a:pt x="0" y="1658600"/>
                </a:lnTo>
                <a:lnTo>
                  <a:pt x="2789692" y="1658600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772825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0"/>
                </a:moveTo>
                <a:lnTo>
                  <a:pt x="0" y="0"/>
                </a:lnTo>
                <a:lnTo>
                  <a:pt x="0" y="1404701"/>
                </a:lnTo>
                <a:lnTo>
                  <a:pt x="2362646" y="1404701"/>
                </a:lnTo>
                <a:lnTo>
                  <a:pt x="23626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9416472"/>
            <a:ext cx="18288000" cy="870528"/>
          </a:xfrm>
          <a:custGeom>
            <a:avLst/>
            <a:gdLst/>
            <a:ahLst/>
            <a:cxnLst/>
            <a:rect r="r" b="b" t="t" l="l"/>
            <a:pathLst>
              <a:path h="870528" w="18288000">
                <a:moveTo>
                  <a:pt x="0" y="0"/>
                </a:moveTo>
                <a:lnTo>
                  <a:pt x="18288000" y="0"/>
                </a:lnTo>
                <a:lnTo>
                  <a:pt x="18288000" y="870528"/>
                </a:lnTo>
                <a:lnTo>
                  <a:pt x="0" y="870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000794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39547" y="1437684"/>
            <a:ext cx="15133278" cy="1678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b="true" sz="6399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SEVERIDAD DE LOS CASOS CONFIRMADOS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05400" y="2953453"/>
            <a:ext cx="7601573" cy="5643477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3374807" y="8147361"/>
            <a:ext cx="12961497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Se ha detectado que de los 3 bugs confirmados, 2 han sido considerados de severidad media, mientras que el bug restante ha sido considerado de severidad baja. No se han reportado bugs que pudieran afectar a las principales funcionalidades de la aplicación y que pudieran considerarse de severidad alta / crítica.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87705" y="0"/>
            <a:ext cx="10401374" cy="10401374"/>
          </a:xfrm>
          <a:custGeom>
            <a:avLst/>
            <a:gdLst/>
            <a:ahLst/>
            <a:cxnLst/>
            <a:rect r="r" b="b" t="t" l="l"/>
            <a:pathLst>
              <a:path h="10401374" w="10401374">
                <a:moveTo>
                  <a:pt x="0" y="0"/>
                </a:moveTo>
                <a:lnTo>
                  <a:pt x="10401374" y="0"/>
                </a:lnTo>
                <a:lnTo>
                  <a:pt x="10401374" y="10401374"/>
                </a:lnTo>
                <a:lnTo>
                  <a:pt x="0" y="1040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9536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14315" y="47922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00792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39536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000792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H="true">
            <a:off x="9331591" y="1338659"/>
            <a:ext cx="62686" cy="7594468"/>
          </a:xfrm>
          <a:prstGeom prst="line">
            <a:avLst/>
          </a:prstGeom>
          <a:ln cap="flat" w="38100">
            <a:solidFill>
              <a:srgbClr val="F0F2F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8854074" y="1660309"/>
            <a:ext cx="955034" cy="95503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54074" y="3164232"/>
            <a:ext cx="955034" cy="95503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54074" y="4665983"/>
            <a:ext cx="955034" cy="95503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854074" y="6173467"/>
            <a:ext cx="955034" cy="95503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29495" y="3661558"/>
            <a:ext cx="6940216" cy="98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2"/>
              </a:lnSpc>
            </a:pPr>
            <a:r>
              <a:rPr lang="en-US" sz="6896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CONCLUSIONES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9495" y="4989986"/>
            <a:ext cx="5767197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4"/>
              </a:lnSpc>
            </a:pPr>
            <a:r>
              <a:rPr lang="en-US" sz="2403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Como resultados generales, la mayoría de las funcionalidades responden como se espera que lo hagan. Si bien se detectaron algunos defectos menores, la aplicación presenta un comportamiento estable.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00601" y="1622209"/>
            <a:ext cx="6575582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Mejorar validaciones de usuario con mensajes de requisitos claros y visualizados desde el momento de creación de perfil para evitar una reiteración intentos 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00601" y="3138191"/>
            <a:ext cx="6575582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Revisar el cumplimiento de las políticas de la empresa para los requisitos de tiempo aceptados al momento de volver a editar el perfil del usuario.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00601" y="4533937"/>
            <a:ext cx="6575582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Revisar el comportamiento de la aplicación cuando esta quede ejecutándose en segundo plano y el usuario vuelva a ingresar para recuperarla al estado en que había quedado previamente.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00601" y="6195078"/>
            <a:ext cx="6575582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Revisar inconsistencias visuales de la interfaz observadas en preferencias como el Modo claro / Modo oscuro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970503" y="1911427"/>
            <a:ext cx="722176" cy="44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b="true" sz="2884" spc="196">
                <a:solidFill>
                  <a:srgbClr val="5666F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970503" y="3415350"/>
            <a:ext cx="722176" cy="44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b="true" sz="2884" spc="196">
                <a:solidFill>
                  <a:srgbClr val="5666F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970503" y="4974288"/>
            <a:ext cx="722176" cy="44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b="true" sz="2884" spc="196">
                <a:solidFill>
                  <a:srgbClr val="5666F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970503" y="6478267"/>
            <a:ext cx="722176" cy="44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b="true" sz="2884" spc="196">
                <a:solidFill>
                  <a:srgbClr val="5666F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04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854074" y="7680951"/>
            <a:ext cx="955034" cy="955034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8970503" y="7985751"/>
            <a:ext cx="722176" cy="44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b="true" sz="2884" spc="196">
                <a:solidFill>
                  <a:srgbClr val="5666F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00601" y="7538103"/>
            <a:ext cx="6575582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0F2FD"/>
                </a:solidFill>
                <a:latin typeface="Codec Pro"/>
                <a:ea typeface="Codec Pro"/>
                <a:cs typeface="Codec Pro"/>
                <a:sym typeface="Codec Pro"/>
              </a:rPr>
              <a:t>Bloquear el acceso a la creación de contenido previo a que el usuario se registre correctamente ya que al crear su cuenta, la aplicación no guarda el estado anterior en que el usuario se encontraba y obliga a comenzar nuevamente y repercutiendo en la UX.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94278" y="350894"/>
            <a:ext cx="7172563" cy="105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0"/>
              </a:lnSpc>
              <a:spcBef>
                <a:spcPct val="0"/>
              </a:spcBef>
            </a:pPr>
            <a:r>
              <a:rPr lang="en-US" b="true" sz="57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RECOMENDACIONES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DAHEDOa6S6Q</dc:identifier>
  <dcterms:modified xsi:type="dcterms:W3CDTF">2011-08-01T06:04:30Z</dcterms:modified>
  <cp:revision>1</cp:revision>
  <dc:title>o</dc:title>
</cp:coreProperties>
</file>